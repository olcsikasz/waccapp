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4630400" cy="8229600"/>
  <p:notesSz cx="8229600" cy="14630400"/>
  <p:embeddedFontLst>
    <p:embeddedFont>
      <p:font typeface="Roboto" panose="02000000000000000000" pitchFamily="2" charset="0"/>
      <p:regular r:id="rId21"/>
    </p:embeddedFont>
    <p:embeddedFont>
      <p:font typeface="Roboto Mono Medium" panose="00000009000000000000" pitchFamily="49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92F8"/>
    <a:srgbClr val="D2DDF8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59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74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302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78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562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0677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12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6892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955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454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65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286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87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128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51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2DD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0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096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17508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Waccapp – WhatsApp‑alapú üzenetküldő és kérdőív‑automatizáló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92786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Szakmai gyakorlat záró bemutató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6280190" y="5666899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Készítette: Gál Olivér István, Gáspár Ádám Ákos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6280190" y="6857643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2025. augusztus 28.</a:t>
            </a:r>
            <a:endParaRPr lang="en-US" sz="2200" dirty="0"/>
          </a:p>
        </p:txBody>
      </p:sp>
      <p:sp>
        <p:nvSpPr>
          <p:cNvPr id="7" name="Téglalap 6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Ellipszis 7"/>
          <p:cNvSpPr/>
          <p:nvPr/>
        </p:nvSpPr>
        <p:spPr>
          <a:xfrm>
            <a:off x="526774" y="7211973"/>
            <a:ext cx="685800" cy="252314"/>
          </a:xfrm>
          <a:prstGeom prst="ellipse">
            <a:avLst/>
          </a:prstGeom>
          <a:solidFill>
            <a:srgbClr val="0492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Szövegdoboz 8"/>
          <p:cNvSpPr txBox="1"/>
          <p:nvPr/>
        </p:nvSpPr>
        <p:spPr>
          <a:xfrm>
            <a:off x="526774" y="7153464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/>
              <a:t>Send</a:t>
            </a:r>
            <a:endParaRPr lang="hu-HU" dirty="0"/>
          </a:p>
        </p:txBody>
      </p:sp>
      <p:sp>
        <p:nvSpPr>
          <p:cNvPr id="10" name="Téglalap 9"/>
          <p:cNvSpPr/>
          <p:nvPr/>
        </p:nvSpPr>
        <p:spPr>
          <a:xfrm>
            <a:off x="646043" y="6517482"/>
            <a:ext cx="2474844" cy="261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367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Cél és probléma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85661"/>
            <a:ext cx="4196358" cy="1542336"/>
          </a:xfrm>
          <a:prstGeom prst="roundRect">
            <a:avLst>
              <a:gd name="adj" fmla="val 2206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1020604" y="551247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 egységes felület, ahol a WhatsApp‑os kommunikáció és kérdőívküldés átláthatóan kezelhető.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5216962" y="5285661"/>
            <a:ext cx="4196358" cy="1542336"/>
          </a:xfrm>
          <a:prstGeom prst="roundRect">
            <a:avLst>
              <a:gd name="adj" fmla="val 220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5443776" y="5512475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Gyors kampányindítás, naplózhatóság, 24 órás ügyfélablak betartása.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9640133" y="5285661"/>
            <a:ext cx="4196358" cy="1542336"/>
          </a:xfrm>
          <a:prstGeom prst="roundRect">
            <a:avLst>
              <a:gd name="adj" fmla="val 2206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9866948" y="551247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Egyszerű üzemeltetés: Node.js + SQLite, statikus front‑end oldalakkal.</a:t>
            </a:r>
            <a:endParaRPr lang="en-US" sz="1750" dirty="0"/>
          </a:p>
        </p:txBody>
      </p:sp>
      <p:sp>
        <p:nvSpPr>
          <p:cNvPr id="10" name="Téglalap 9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016"/>
            <a:ext cx="105475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Mit tud a Waccapp? – Fő modulok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54423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93790" y="205442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73004" y="2311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Üzenetküldés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3004" y="2802136"/>
            <a:ext cx="57714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Szabad szöveg, sablon (nyelvi fallback), média (kép/dokumentum).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054423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428548" y="2054423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807762" y="23117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Kérdőívek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07762" y="2802136"/>
            <a:ext cx="577155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Gombos sablonlánc és szöveges elágazás (központi questionnaire.js).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012049"/>
            <a:ext cx="6407944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93790" y="401204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173004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Időzítés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3004" y="4759762"/>
            <a:ext cx="57714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/ template / questionnaire / media (cron, Europe/Budapest).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012049"/>
            <a:ext cx="6408063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428548" y="4012049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807762" y="4269343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Admin és jogosultság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07762" y="4759762"/>
            <a:ext cx="57715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Owner/admin/operator/analyst/viewer.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969675"/>
            <a:ext cx="6407944" cy="1367909"/>
          </a:xfrm>
          <a:prstGeom prst="roundRect">
            <a:avLst>
              <a:gd name="adj" fmla="val 2487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93790" y="5969675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117300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Audit &amp; consent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73004" y="6717387"/>
            <a:ext cx="57714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Naplózás, visszakereshetőség.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969675"/>
            <a:ext cx="6408063" cy="1367909"/>
          </a:xfrm>
          <a:prstGeom prst="roundRect">
            <a:avLst>
              <a:gd name="adj" fmla="val 2487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7428548" y="5969675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807762" y="6226969"/>
            <a:ext cx="32309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24 órás ügyfélablak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807762" y="6717387"/>
            <a:ext cx="57715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Automatikus ellenőrzése szabad szövegre.</a:t>
            </a:r>
            <a:endParaRPr lang="en-US" sz="1750" dirty="0"/>
          </a:p>
        </p:txBody>
      </p:sp>
      <p:sp>
        <p:nvSpPr>
          <p:cNvPr id="27" name="Téglalap 26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26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962870"/>
            <a:ext cx="637865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Architektúra – áttekintés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793790" y="3919657"/>
            <a:ext cx="284333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Front‑end (public/)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4408527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index.html • conv.html • filter.html • template.html • questionnaire.html • admin.html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93790" y="4850725"/>
            <a:ext cx="391465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Back‑end (Node.js/Express)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93790" y="5339596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app.js • API-k • webhook • cron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3790" y="5781794"/>
            <a:ext cx="275486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Adatbázis (SQLite)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3790" y="6270665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whatsapp_messages.db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3790" y="6695837"/>
            <a:ext cx="6313884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contacts • messages • sent_messages • scheduled_messages • users • audit_logs • consents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30346" y="3919657"/>
            <a:ext cx="275486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WhatsApp Graph API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530346" y="4408527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/messages • /media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530346" y="4833699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Webhook (GET verify, POST events)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30346" y="527589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Kapcsolatok: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530346" y="5764768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Front‑end → Back‑end: REST végpontok (JSON/multipart).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530346" y="6096476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Back‑end 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DB: üzenetek, állapotok, naplók.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30346" y="6428184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Back‑end 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Graph API: kimenő üzenetek, média‑feltöltés.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30346" y="6759893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Graph API → Back‑end: webhook események (üzenet, gomb, státusz).</a:t>
            </a:r>
            <a:endParaRPr lang="en-US" sz="1300" dirty="0"/>
          </a:p>
        </p:txBody>
      </p:sp>
      <p:sp>
        <p:nvSpPr>
          <p:cNvPr id="19" name="Téglalap 18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slow">
    <p:push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1625"/>
            <a:ext cx="8923973" cy="599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Adatmodell (SQLite) – fő táblák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0218" y="1605082"/>
            <a:ext cx="6429018" cy="1873091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982028" y="1796891"/>
            <a:ext cx="575667" cy="575667"/>
          </a:xfrm>
          <a:prstGeom prst="roundRect">
            <a:avLst>
              <a:gd name="adj" fmla="val 15882595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62" y="1922740"/>
            <a:ext cx="25908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028" y="2564368"/>
            <a:ext cx="2398871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contacts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82028" y="2979301"/>
            <a:ext cx="604539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 azonosítók (E.164).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411045" y="1605082"/>
            <a:ext cx="6429137" cy="1873091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7602855" y="1796891"/>
            <a:ext cx="575667" cy="575667"/>
          </a:xfrm>
          <a:prstGeom prst="roundRect">
            <a:avLst>
              <a:gd name="adj" fmla="val 15882595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089" y="1922740"/>
            <a:ext cx="259080" cy="323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2855" y="2564368"/>
            <a:ext cx="2398871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messages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7602855" y="2979301"/>
            <a:ext cx="604551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Bejövő üzenetek (text/image/document/button).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90218" y="3669982"/>
            <a:ext cx="6429018" cy="1873091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982028" y="3861792"/>
            <a:ext cx="575667" cy="575667"/>
          </a:xfrm>
          <a:prstGeom prst="roundRect">
            <a:avLst>
              <a:gd name="adj" fmla="val 15882595"/>
            </a:avLst>
          </a:prstGeom>
          <a:solidFill>
            <a:srgbClr val="D2DDF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262" y="3987641"/>
            <a:ext cx="259080" cy="3238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2028" y="4629269"/>
            <a:ext cx="2398871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sent_messages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982028" y="5044202"/>
            <a:ext cx="604539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Kimenő üzenetek (type, content, theme, media_url).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411045" y="3669982"/>
            <a:ext cx="6429137" cy="1873091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4"/>
          <p:cNvSpPr/>
          <p:nvPr/>
        </p:nvSpPr>
        <p:spPr>
          <a:xfrm>
            <a:off x="7602855" y="3861792"/>
            <a:ext cx="575667" cy="575667"/>
          </a:xfrm>
          <a:prstGeom prst="roundRect">
            <a:avLst>
              <a:gd name="adj" fmla="val 15882595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089" y="4020026"/>
            <a:ext cx="259080" cy="259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02855" y="4629269"/>
            <a:ext cx="2398871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message_metadata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7602855" y="5044202"/>
            <a:ext cx="604551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Rugalmas key‑value (pl. gomb payload).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90218" y="5734883"/>
            <a:ext cx="6429018" cy="1873091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18"/>
          <p:cNvSpPr/>
          <p:nvPr/>
        </p:nvSpPr>
        <p:spPr>
          <a:xfrm>
            <a:off x="982028" y="5926693"/>
            <a:ext cx="575667" cy="575667"/>
          </a:xfrm>
          <a:prstGeom prst="roundRect">
            <a:avLst>
              <a:gd name="adj" fmla="val 15882595"/>
            </a:avLst>
          </a:prstGeom>
          <a:solidFill>
            <a:srgbClr val="D2DDF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262" y="6052542"/>
            <a:ext cx="259080" cy="3238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82028" y="6694170"/>
            <a:ext cx="2590205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scheduled_messages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982028" y="7109103"/>
            <a:ext cx="604539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Időzítések (message/template/questionnaire/media).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7411045" y="5734883"/>
            <a:ext cx="6429137" cy="1873091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Shape 22"/>
          <p:cNvSpPr/>
          <p:nvPr/>
        </p:nvSpPr>
        <p:spPr>
          <a:xfrm>
            <a:off x="7602855" y="5926693"/>
            <a:ext cx="575667" cy="575667"/>
          </a:xfrm>
          <a:prstGeom prst="roundRect">
            <a:avLst>
              <a:gd name="adj" fmla="val 15882595"/>
            </a:avLst>
          </a:prstGeom>
          <a:solidFill>
            <a:srgbClr val="DCFF5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1089" y="6052542"/>
            <a:ext cx="259080" cy="3238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602855" y="6694170"/>
            <a:ext cx="3885367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users, audit_logs, consents</a:t>
            </a:r>
            <a:endParaRPr lang="en-US" sz="1850" dirty="0"/>
          </a:p>
        </p:txBody>
      </p:sp>
      <p:sp>
        <p:nvSpPr>
          <p:cNvPr id="32" name="Text 24"/>
          <p:cNvSpPr/>
          <p:nvPr/>
        </p:nvSpPr>
        <p:spPr>
          <a:xfrm>
            <a:off x="7602855" y="7109103"/>
            <a:ext cx="6045518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Admin, naplók, hozzájárulások.</a:t>
            </a:r>
            <a:endParaRPr lang="en-US" sz="1500" dirty="0"/>
          </a:p>
        </p:txBody>
      </p:sp>
      <p:sp>
        <p:nvSpPr>
          <p:cNvPr id="33" name="Téglalap 32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0085" y="534352"/>
            <a:ext cx="6996351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Webhook és WhatsApp integráció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" y="1428155"/>
            <a:ext cx="7810381" cy="6218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5462" y="2205395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GET /webhook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5462" y="2603659"/>
            <a:ext cx="749962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token → hub.challenge visszaadása.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" y="3007757"/>
            <a:ext cx="7810381" cy="6218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5462" y="3784997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POST /webhook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35462" y="4183261"/>
            <a:ext cx="749962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Bejövő üzenetek/gombok/státuszok normalizálása, mentés, automata folytatás.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" y="4587359"/>
            <a:ext cx="7810381" cy="6218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5462" y="5364599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Kimenő üzenetek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35462" y="5762863"/>
            <a:ext cx="7499628" cy="248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/messages (text, template, image/document), /media feltöltés.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8877419" y="1428155"/>
            <a:ext cx="5080397" cy="1307425"/>
          </a:xfrm>
          <a:prstGeom prst="roundRect">
            <a:avLst>
              <a:gd name="adj" fmla="val 1784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2796" y="1642824"/>
            <a:ext cx="242888" cy="19431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431060" y="1622346"/>
            <a:ext cx="19433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24 órás szabály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9431060" y="2020610"/>
            <a:ext cx="4371380" cy="497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Szabad szöveg csak aktív ablakban, sablon bármikor (jóváhagyott).</a:t>
            </a:r>
            <a:endParaRPr lang="en-US" sz="1200" dirty="0"/>
          </a:p>
        </p:txBody>
      </p:sp>
      <p:sp>
        <p:nvSpPr>
          <p:cNvPr id="17" name="Téglalap 16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7419" y="2910483"/>
            <a:ext cx="5080397" cy="5080397"/>
          </a:xfrm>
          <a:prstGeom prst="rect">
            <a:avLst/>
          </a:prstGeom>
        </p:spPr>
      </p:pic>
      <p:pic>
        <p:nvPicPr>
          <p:cNvPr id="18" name="Kép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737" y="2911436"/>
            <a:ext cx="5079444" cy="5079444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09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75278"/>
            <a:ext cx="954452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Kérdőív motor – gombos sablonlánc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93790" y="4356140"/>
            <a:ext cx="6424970" cy="192762"/>
          </a:xfrm>
          <a:prstGeom prst="roundRect">
            <a:avLst>
              <a:gd name="adj" fmla="val 150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986552" y="4741664"/>
            <a:ext cx="260175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Sablon csomópontok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86552" y="5158502"/>
            <a:ext cx="603944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Minden csomópont = jóváhagyott sablon (pl. tema_q0, tema_q1).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11522" y="4066937"/>
            <a:ext cx="6425089" cy="192762"/>
          </a:xfrm>
          <a:prstGeom prst="roundRect">
            <a:avLst>
              <a:gd name="adj" fmla="val 150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604284" y="445246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Gombnavigáció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604284" y="4869299"/>
            <a:ext cx="603956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Gombnyomás → következő csomópont kiválasztása (payload/title normalizálással).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93790" y="6160770"/>
            <a:ext cx="6424970" cy="192762"/>
          </a:xfrm>
          <a:prstGeom prst="roundRect">
            <a:avLst>
              <a:gd name="adj" fmla="val 150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986552" y="654629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Idempotencia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86552" y="6963132"/>
            <a:ext cx="603944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Dupla kattintás elleni idempotencia (wamid + rövid zárolás).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411522" y="5871567"/>
            <a:ext cx="6425089" cy="192762"/>
          </a:xfrm>
          <a:prstGeom prst="roundRect">
            <a:avLst>
              <a:gd name="adj" fmla="val 150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604284" y="6257092"/>
            <a:ext cx="317992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Automatikus felismerés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604284" y="6673929"/>
            <a:ext cx="6039564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Első sablon automatikus felismerése (q0 heurisztika).</a:t>
            </a:r>
            <a:endParaRPr lang="en-US" sz="1500" dirty="0"/>
          </a:p>
        </p:txBody>
      </p:sp>
      <p:sp>
        <p:nvSpPr>
          <p:cNvPr id="16" name="Téglalap 15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</p:cSld>
  <p:clrMapOvr>
    <a:masterClrMapping/>
  </p:clrMapOvr>
  <p:transition spd="slow">
    <p:push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7479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Kérdőív motor –(questionnaire.js)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8681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Központi modul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52020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Node‑ok (q0, q1, …), text + next szabályok.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728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Válaszértelmezés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93790" y="612493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Szám/kulcsszó/regexp + normalizálás (ékezet, whitespace).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8681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Elágazások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52020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Wildcard/default ág, lezáró (end) csomópontok.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5472827"/>
            <a:ext cx="347031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Szerkesztőfelület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4856321" y="612493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hu-HU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Template.html</a:t>
            </a: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fejlesztő nélkül bővíthető.</a:t>
            </a:r>
            <a:endParaRPr lang="en-US" sz="1750" dirty="0"/>
          </a:p>
        </p:txBody>
      </p:sp>
      <p:pic>
        <p:nvPicPr>
          <p:cNvPr id="12" name="Kép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806" y="0"/>
            <a:ext cx="5871117" cy="82296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65691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Időzítő (cron) és ütemezett küldések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280190" y="2259806"/>
            <a:ext cx="7556421" cy="1156454"/>
          </a:xfrm>
          <a:prstGeom prst="roundRect">
            <a:avLst>
              <a:gd name="adj" fmla="val 2501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495812" y="2475428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Típusok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495812" y="2892266"/>
            <a:ext cx="712517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Message, template, questionnaire, media.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80190" y="3609023"/>
            <a:ext cx="7556421" cy="1156454"/>
          </a:xfrm>
          <a:prstGeom prst="roundRect">
            <a:avLst>
              <a:gd name="adj" fmla="val 2501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495812" y="382464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Ellenőrzés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495812" y="4241483"/>
            <a:ext cx="712517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Percenkénti ellenőrzés, Europe/Budapest időzónával.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80190" y="4958239"/>
            <a:ext cx="7556421" cy="1156454"/>
          </a:xfrm>
          <a:prstGeom prst="roundRect">
            <a:avLst>
              <a:gd name="adj" fmla="val 2501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495812" y="517386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Naplózás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495812" y="5590699"/>
            <a:ext cx="712517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Küldés kimenetelének rögzítése (wamid, idő, státusz).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80190" y="6307455"/>
            <a:ext cx="7556421" cy="1156454"/>
          </a:xfrm>
          <a:prstGeom prst="roundRect">
            <a:avLst>
              <a:gd name="adj" fmla="val 2501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495812" y="6523077"/>
            <a:ext cx="289083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Felhasználói felület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495812" y="6939915"/>
            <a:ext cx="712517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UI: index.html – időzített bejegyzések felvétele.</a:t>
            </a:r>
            <a:endParaRPr lang="en-US" sz="1500" dirty="0"/>
          </a:p>
        </p:txBody>
      </p:sp>
      <p:sp>
        <p:nvSpPr>
          <p:cNvPr id="16" name="Téglalap 15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7" name="Kép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5482" y="-10031"/>
            <a:ext cx="6500049" cy="8239631"/>
          </a:xfrm>
          <a:prstGeom prst="rect">
            <a:avLst/>
          </a:prstGeom>
        </p:spPr>
      </p:pic>
    </p:spTree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71420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Felhasználói felület – képernyőképek helye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1242869"/>
            <a:ext cx="2754868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index.html – Üzenetküldő UI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396835" y="8197215"/>
            <a:ext cx="255079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conv.html – Csevegésnézet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35" y="8537377"/>
            <a:ext cx="6780014" cy="67800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61171" y="1242869"/>
            <a:ext cx="2856905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filter.html – Szűrés/elemzés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7461171" y="8197215"/>
            <a:ext cx="4897517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dirty="0">
                <a:solidFill>
                  <a:srgbClr val="1B54DA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template.html / questionnaire.html – szerkesztők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171" y="8537377"/>
            <a:ext cx="6780014" cy="6780014"/>
          </a:xfrm>
          <a:prstGeom prst="rect">
            <a:avLst/>
          </a:prstGeom>
        </p:spPr>
      </p:pic>
      <p:sp>
        <p:nvSpPr>
          <p:cNvPr id="11" name="Téglalap 10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2" name="Kép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171" y="1519273"/>
            <a:ext cx="6780014" cy="6320838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 rotWithShape="1">
          <a:blip r:embed="rId6"/>
          <a:srcRect l="10451" r="9024"/>
          <a:stretch/>
        </p:blipFill>
        <p:spPr>
          <a:xfrm>
            <a:off x="396835" y="1519273"/>
            <a:ext cx="6738731" cy="6321600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42442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Biztonság és megfelelőség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1821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HTTPS + reverse proxy (Nginx), secure cookie, sameSite.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26243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Szerepkör‑alapú hozzáférés, rate limit a bejelentkezésre.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06653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és consent naplók; PRIVACY\_VERSION verziózás.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35087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Titkok .env-ben (ACCESS_TOKEN, VERIFY_TOKEN, APP_SECRET).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395093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Webhook aláírás‑ellenőrzés (opcionális, ajánlott).</a:t>
            </a:r>
            <a:endParaRPr lang="en-US" sz="1750" dirty="0"/>
          </a:p>
        </p:txBody>
      </p:sp>
      <p:sp>
        <p:nvSpPr>
          <p:cNvPr id="9" name="Téglalap 8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" name="Kép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868" y="4516354"/>
            <a:ext cx="6555063" cy="34846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1202423"/>
      </p:ext>
    </p:extLst>
  </p:cSld>
  <p:clrMapOvr>
    <a:masterClrMapping/>
  </p:clrMapOvr>
  <p:transition spd="slow"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9279136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Telepítés &amp; futtatás – kivonat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 18+, npm install, .env kitöltése (PUBLIC_BASE_URL, VERIFY_TOKEN, ACCESS_TOKEN, PHONE_NUMBER_ID, stb.).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438043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Fejlesztéshez ngrok: https URL a webhookhoz, Meta Console verify.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3170039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Prod: HTTPS + Nginx, PM2 process manager, fájljogosultságok.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572113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 backup </a:t>
            </a:r>
            <a:r>
              <a:rPr lang="en-US" sz="16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és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sent_media</a:t>
            </a:r>
            <a:r>
              <a:rPr lang="en-US" sz="16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takarítás (vagy S3‑ra költöztetés).</a:t>
            </a:r>
            <a:endParaRPr lang="en-US" sz="1600" dirty="0"/>
          </a:p>
        </p:txBody>
      </p:sp>
      <p:sp>
        <p:nvSpPr>
          <p:cNvPr id="8" name="Téglalap 7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" name="Kép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039" y="5206866"/>
            <a:ext cx="6157343" cy="126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6919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9378"/>
            <a:ext cx="108877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Gyakori hibák &amp; gyors megoldások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51785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93790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73004" y="3109079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TEXT\_WINDOW\_CLOSED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3004" y="3599497"/>
            <a:ext cx="35598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Küldj sablont.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851785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216962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596176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NOT\_OPTED\_IN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6176" y="3599497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Szám engedélyezése a Meta Console-ban.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851785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9640133" y="2851785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0019348" y="3109079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UNSUPPORTED\_MEDIA\_TYPE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19348" y="3953828"/>
            <a:ext cx="35598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Konvertáld a fájlt (jpg/png/pdf).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4809411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93790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173004" y="5066705"/>
            <a:ext cx="355985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403 verify webhooknál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3004" y="5911453"/>
            <a:ext cx="35598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VERIFY_TOKEN eltérés.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5216962" y="4809411"/>
            <a:ext cx="4196358" cy="1730812"/>
          </a:xfrm>
          <a:prstGeom prst="roundRect">
            <a:avLst>
              <a:gd name="adj" fmla="val 1966"/>
            </a:avLst>
          </a:prstGeom>
          <a:solidFill>
            <a:srgbClr val="212121"/>
          </a:solidFill>
          <a:ln w="30480">
            <a:solidFill>
              <a:srgbClr val="1B54D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216962" y="4809411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B54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596176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Graf API 429/5xx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96176" y="5557123"/>
            <a:ext cx="35598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Backoff + retry, token/ID ellenőrzés.</a:t>
            </a:r>
            <a:endParaRPr lang="en-US" sz="1750" dirty="0"/>
          </a:p>
        </p:txBody>
      </p:sp>
      <p:sp>
        <p:nvSpPr>
          <p:cNvPr id="23" name="Téglalap 22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888546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6656"/>
            <a:ext cx="81657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Eredmények és tanulságok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07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78860" y="22132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2248614"/>
            <a:ext cx="42779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Működő end‑to‑end folyamat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30906" y="2829758"/>
            <a:ext cx="6867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Küldés → webhook → automatikus folytatás.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364628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78860" y="368879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1530906" y="3724156"/>
            <a:ext cx="61218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Egységes UI a mindennapi műveletekre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3790" y="4610219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78860" y="465272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1530906" y="4688086"/>
            <a:ext cx="60500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Kód‑ és adatstruktúra, ami bővíthető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30906" y="5269230"/>
            <a:ext cx="6867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Exportok, riportok, S3 média.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93790" y="608576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78860" y="61282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1530906" y="61636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Tanulság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30906" y="6744772"/>
            <a:ext cx="6867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Idempotencia, naplózás és jó hibaüzenetek kulcsfontosságúak.</a:t>
            </a:r>
            <a:endParaRPr lang="en-US" sz="17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70747"/>
            <a:ext cx="4885015" cy="4885015"/>
          </a:xfrm>
          <a:prstGeom prst="rect">
            <a:avLst/>
          </a:prstGeom>
        </p:spPr>
      </p:pic>
      <p:sp>
        <p:nvSpPr>
          <p:cNvPr id="19" name="Téglalap 18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4503065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764977"/>
            <a:ext cx="7556421" cy="1204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Demó – 3 perces forgatókönyv</a:t>
            </a:r>
            <a:endParaRPr lang="en-US" sz="3750" dirty="0"/>
          </a:p>
        </p:txBody>
      </p:sp>
      <p:sp>
        <p:nvSpPr>
          <p:cNvPr id="6" name="Shape 2"/>
          <p:cNvSpPr/>
          <p:nvPr/>
        </p:nvSpPr>
        <p:spPr>
          <a:xfrm>
            <a:off x="6280190" y="2259092"/>
            <a:ext cx="192762" cy="1156811"/>
          </a:xfrm>
          <a:prstGeom prst="roundRect">
            <a:avLst>
              <a:gd name="adj" fmla="val 150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3"/>
          <p:cNvSpPr/>
          <p:nvPr/>
        </p:nvSpPr>
        <p:spPr>
          <a:xfrm>
            <a:off x="6665714" y="245185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1. index.html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665714" y="2868692"/>
            <a:ext cx="7170896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Sablonküldés 1 címzettnek (paraméterekkel).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69393" y="3608665"/>
            <a:ext cx="192762" cy="1156811"/>
          </a:xfrm>
          <a:prstGeom prst="roundRect">
            <a:avLst>
              <a:gd name="adj" fmla="val 150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6954917" y="3801427"/>
            <a:ext cx="260175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2. Webhook reakció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6954917" y="4218265"/>
            <a:ext cx="688169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Gombnyomás után automatikus következő lépés.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858595" y="4958239"/>
            <a:ext cx="192762" cy="1156811"/>
          </a:xfrm>
          <a:prstGeom prst="roundRect">
            <a:avLst>
              <a:gd name="adj" fmla="val 150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7244120" y="5151001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3. conv.html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244120" y="5567839"/>
            <a:ext cx="659249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Üzenetfolyam és média előnézet megtekintése.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147798" y="6307812"/>
            <a:ext cx="192762" cy="1156811"/>
          </a:xfrm>
          <a:prstGeom prst="roundRect">
            <a:avLst>
              <a:gd name="adj" fmla="val 150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7533323" y="650057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4. filter.html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7533323" y="6917412"/>
            <a:ext cx="6303288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Szűrés egy témára és időszakra.</a:t>
            </a:r>
            <a:endParaRPr lang="en-US" sz="1500" dirty="0"/>
          </a:p>
        </p:txBody>
      </p:sp>
      <p:sp>
        <p:nvSpPr>
          <p:cNvPr id="18" name="Téglalap 17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" name="AutoShape 2" descr="https://mail.google.com/mail/u/0?ui=2&amp;ik=de91096266&amp;attid=0.1&amp;permmsgid=msg-a:r7105236930339875204&amp;th=198e572a39deb202&amp;view=fimg&amp;fur=ip&amp;permmsgid=msg-a:r7105236930339875204&amp;sz=s0-l75-ft&amp;attbid=ANGjdJ-RXJ2aqHJCGZU-JXUCDR6YoV06lcKE6Na8wfqDMRUvx9NvQm5KVK0hmsqnP1Vr-EpReVtFygv_hiU16cLLZAaYAmRZNu2Bf4ISsOH4MECoDtjmVBvgEQX6jqM&amp;disp=emb&amp;realattid=ii_198e57293edd52e0be91&amp;z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25" name="Kép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432309677"/>
      </p:ext>
    </p:extLst>
  </p:cSld>
  <p:clrMapOvr>
    <a:masterClrMapping/>
  </p:clrMapOvr>
  <p:transition spd="slow">
    <p:push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234" y="571381"/>
            <a:ext cx="5033486" cy="61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Következő lépések</a:t>
            </a:r>
            <a:endParaRPr lang="en-US" sz="3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34" y="1706285"/>
            <a:ext cx="6347222" cy="634722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3564" y="1706285"/>
            <a:ext cx="986909" cy="12159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47760" y="1903571"/>
            <a:ext cx="378678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Webhook aláírás‑ellenőrzés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747760" y="2409230"/>
            <a:ext cx="516302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helmet/CSP bekötése.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3564" y="2922270"/>
            <a:ext cx="986909" cy="12159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47760" y="3119557"/>
            <a:ext cx="3256955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Média tár költöztetése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8747760" y="3625215"/>
            <a:ext cx="516302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Objektumtárba (S3) + URL‑alapú megjelenítés.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3564" y="4138255"/>
            <a:ext cx="986909" cy="12159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747760" y="4335542"/>
            <a:ext cx="2516743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Riportok/exportok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8747760" y="4841200"/>
            <a:ext cx="516302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És grafikonok a filter nézethez.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3564" y="5354241"/>
            <a:ext cx="986909" cy="12159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747760" y="5551527"/>
            <a:ext cx="246733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Skálázás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8747760" y="6057186"/>
            <a:ext cx="5163026" cy="31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Küldési sor és sebességkorlát kezelése.</a:t>
            </a:r>
            <a:endParaRPr lang="en-US" sz="1550" dirty="0"/>
          </a:p>
        </p:txBody>
      </p:sp>
      <p:sp>
        <p:nvSpPr>
          <p:cNvPr id="16" name="Téglalap 15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7834573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12280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Köszönjük a figyelmet! – </a:t>
            </a:r>
            <a:r>
              <a:rPr kumimoji="0" lang="en-US" sz="4450" b="0" i="0" u="none" strike="noStrike" kern="1200" cap="none" spc="0" normalizeH="0" baseline="0" noProof="0" dirty="0">
                <a:ln>
                  <a:noFill/>
                </a:ln>
                <a:solidFill>
                  <a:srgbClr val="1B54DA"/>
                </a:solidFill>
                <a:effectLst/>
                <a:uLnTx/>
                <a:uFillTx/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Kérdések</a:t>
            </a:r>
            <a:endParaRPr kumimoji="0" lang="en-US" sz="44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145625"/>
            <a:ext cx="760428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>
              <a:lnSpc>
                <a:spcPts val="3550"/>
              </a:lnSpc>
            </a:pP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Elérhetőség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hu-HU" sz="2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https://github.com/GAdamAkos/wacapp.git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0320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2798026"/>
            <a:ext cx="7604284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3347974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3098479"/>
            <a:ext cx="6640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itchFamily="34" charset="0"/>
                <a:ea typeface="Roboto" pitchFamily="34" charset="-122"/>
                <a:cs typeface="Roboto" pitchFamily="34" charset="-120"/>
              </a:rPr>
              <a:t>Ha további kérdéseid vannak a rendszer működésével vagy a telepítéssel kapcsolatban, kérjük, ne habozz feltenni őket most!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églalap 8"/>
          <p:cNvSpPr/>
          <p:nvPr/>
        </p:nvSpPr>
        <p:spPr>
          <a:xfrm>
            <a:off x="12861235" y="7772400"/>
            <a:ext cx="1659835" cy="357809"/>
          </a:xfrm>
          <a:prstGeom prst="rect">
            <a:avLst/>
          </a:prstGeom>
          <a:solidFill>
            <a:srgbClr val="D2DD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Szövegdoboz 9"/>
          <p:cNvSpPr txBox="1"/>
          <p:nvPr/>
        </p:nvSpPr>
        <p:spPr>
          <a:xfrm>
            <a:off x="793790" y="4419387"/>
            <a:ext cx="4275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>
                <a:latin typeface="Roboto" panose="020B0604020202020204" charset="0"/>
                <a:ea typeface="Roboto" panose="020B0604020202020204" charset="0"/>
                <a:cs typeface="Roboto" panose="020B0604020202020204" charset="0"/>
              </a:rPr>
              <a:t>Források: </a:t>
            </a:r>
            <a:r>
              <a:rPr lang="hu-HU" sz="2400" dirty="0" err="1">
                <a:latin typeface="Roboto" panose="020B0604020202020204" charset="0"/>
                <a:ea typeface="Roboto" panose="020B0604020202020204" charset="0"/>
                <a:cs typeface="Roboto" panose="020B0604020202020204" charset="0"/>
              </a:rPr>
              <a:t>ChatGPT</a:t>
            </a:r>
            <a:r>
              <a:rPr lang="hu-HU" sz="2400" dirty="0">
                <a:latin typeface="Roboto" panose="020B0604020202020204" charset="0"/>
                <a:ea typeface="Roboto" panose="020B0604020202020204" charset="0"/>
                <a:cs typeface="Roboto" panose="020B0604020202020204" charset="0"/>
              </a:rPr>
              <a:t> 5 </a:t>
            </a:r>
            <a:r>
              <a:rPr lang="hu-HU" sz="2400" dirty="0" err="1">
                <a:latin typeface="Roboto" panose="020B0604020202020204" charset="0"/>
                <a:ea typeface="Roboto" panose="020B0604020202020204" charset="0"/>
                <a:cs typeface="Roboto" panose="020B0604020202020204" charset="0"/>
              </a:rPr>
              <a:t>Thinking</a:t>
            </a:r>
            <a:endParaRPr lang="hu-HU" sz="2400" dirty="0">
              <a:latin typeface="Roboto" panose="020B0604020202020204" charset="0"/>
              <a:ea typeface="Roboto" panose="020B0604020202020204" charset="0"/>
              <a:cs typeface="Roboto" panose="020B0604020202020204" charset="0"/>
            </a:endParaRPr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435" y="2798026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87315"/>
      </p:ext>
    </p:extLst>
  </p:cSld>
  <p:clrMapOvr>
    <a:masterClrMapping/>
  </p:clrMapOvr>
  <p:transition spd="slow">
    <p:wipe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</TotalTime>
  <Words>1034</Words>
  <Application>Microsoft Office PowerPoint</Application>
  <PresentationFormat>Custom</PresentationFormat>
  <Paragraphs>165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Roboto Mono Medium</vt:lpstr>
      <vt:lpstr>Roboto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/>
  <cp:lastModifiedBy>Gáspár Ádám Ákos</cp:lastModifiedBy>
  <cp:revision>19</cp:revision>
  <dcterms:created xsi:type="dcterms:W3CDTF">2025-08-28T08:56:20Z</dcterms:created>
  <dcterms:modified xsi:type="dcterms:W3CDTF">2025-08-29T07:39:49Z</dcterms:modified>
</cp:coreProperties>
</file>